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
  </p:notesMasterIdLst>
  <p:handoutMasterIdLst>
    <p:handoutMasterId r:id="rId14"/>
  </p:handoutMasterIdLst>
  <p:sldIdLst>
    <p:sldId id="531" r:id="rId3"/>
    <p:sldId id="289" r:id="rId4"/>
    <p:sldId id="292" r:id="rId6"/>
    <p:sldId id="294" r:id="rId7"/>
    <p:sldId id="298" r:id="rId8"/>
    <p:sldId id="532" r:id="rId9"/>
    <p:sldId id="302" r:id="rId10"/>
    <p:sldId id="303" r:id="rId11"/>
    <p:sldId id="307" r:id="rId12"/>
    <p:sldId id="301" r:id="rId13"/>
  </p:sldIdLst>
  <p:sldSz cx="12192000" cy="6858000"/>
  <p:notesSz cx="6858000" cy="9144000"/>
  <p:embeddedFontLst>
    <p:embeddedFont>
      <p:font typeface="Open Sans" panose="020B0606030504020204"/>
      <p:regular r:id="rId19"/>
    </p:embeddedFont>
    <p:embeddedFont>
      <p:font typeface="Calibri" panose="020F0502020204030204"/>
      <p:regular r:id="rId20"/>
    </p:embeddedFont>
    <p:embeddedFont>
      <p:font typeface="Poppins SemiBold" panose="00000500000000000000"/>
      <p:regular r:id="rId21"/>
    </p:embeddedFont>
    <p:embeddedFont>
      <p:font typeface="Aharoni" panose="02010803020104030203"/>
      <p:bold r:id="rId22"/>
    </p:embeddedFont>
    <p:embeddedFont>
      <p:font typeface="Plus Jakarta Sans"/>
      <p:regular r:id="rId23"/>
      <p:bold r:id="rId24"/>
      <p:italic r:id="rId25"/>
      <p:boldItalic r:id="rId26"/>
    </p:embeddedFont>
    <p:embeddedFont>
      <p:font typeface="Montserrat Medium" panose="00000600000000000000"/>
      <p:regular r:id="rId27"/>
      <p:italic r:id="rId28"/>
    </p:embeddedFont>
    <p:embeddedFont>
      <p:font typeface="Verdana" panose="020B0604030504040204"/>
      <p:regular r:id="rId29"/>
      <p:bold r:id="rId30"/>
      <p:italic r:id="rId31"/>
      <p:boldItalic r:id="rId32"/>
    </p:embeddedFont>
    <p:embeddedFont>
      <p:font typeface="Montserrat" panose="00000500000000000000"/>
      <p:regular r:id="rId33"/>
      <p:bold r:id="rId34"/>
      <p:italic r:id="rId35"/>
      <p:boldItalic r:id="rId36"/>
    </p:embeddedFont>
    <p:embeddedFont>
      <p:font typeface="Verdana" panose="020B0604030504040204" pitchFamily="34" charset="0"/>
      <p:regular r:id="rId37"/>
      <p:bold r:id="rId38"/>
      <p:italic r:id="rId39"/>
      <p:boldItalic r:id="rId40"/>
    </p:embeddedFont>
  </p:embeddedFontLst>
  <p:custDataLst>
    <p:tags r:id="rId4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0"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1" Type="http://schemas.openxmlformats.org/officeDocument/2006/relationships/tags" Target="tags/tag1.xml"/><Relationship Id="rId40" Type="http://schemas.openxmlformats.org/officeDocument/2006/relationships/font" Target="fonts/font22.fntdata"/><Relationship Id="rId4" Type="http://schemas.openxmlformats.org/officeDocument/2006/relationships/slide" Target="slides/slide2.xml"/><Relationship Id="rId39" Type="http://schemas.openxmlformats.org/officeDocument/2006/relationships/font" Target="fonts/font21.fntdata"/><Relationship Id="rId38" Type="http://schemas.openxmlformats.org/officeDocument/2006/relationships/font" Target="fonts/font20.fntdata"/><Relationship Id="rId37" Type="http://schemas.openxmlformats.org/officeDocument/2006/relationships/font" Target="fonts/font19.fntdata"/><Relationship Id="rId36" Type="http://schemas.openxmlformats.org/officeDocument/2006/relationships/font" Target="fonts/font18.fntdata"/><Relationship Id="rId35" Type="http://schemas.openxmlformats.org/officeDocument/2006/relationships/font" Target="fonts/font17.fntdata"/><Relationship Id="rId34" Type="http://schemas.openxmlformats.org/officeDocument/2006/relationships/font" Target="fonts/font16.fntdata"/><Relationship Id="rId33" Type="http://schemas.openxmlformats.org/officeDocument/2006/relationships/font" Target="fonts/font15.fntdata"/><Relationship Id="rId32" Type="http://schemas.openxmlformats.org/officeDocument/2006/relationships/font" Target="fonts/font14.fntdata"/><Relationship Id="rId31" Type="http://schemas.openxmlformats.org/officeDocument/2006/relationships/font" Target="fonts/font13.fntdata"/><Relationship Id="rId30" Type="http://schemas.openxmlformats.org/officeDocument/2006/relationships/font" Target="fonts/font12.fntdata"/><Relationship Id="rId3" Type="http://schemas.openxmlformats.org/officeDocument/2006/relationships/slide" Target="slides/slide1.xml"/><Relationship Id="rId29" Type="http://schemas.openxmlformats.org/officeDocument/2006/relationships/font" Target="fonts/font11.fntdata"/><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panose="00000500000000000000"/>
              <a:buNone/>
              <a:defRPr sz="2400" b="0" i="0" u="none" strike="noStrike" cap="none">
                <a:solidFill>
                  <a:srgbClr val="037692"/>
                </a:solidFill>
                <a:latin typeface="Poppins SemiBold" panose="00000500000000000000"/>
                <a:ea typeface="Poppins SemiBold" panose="00000500000000000000"/>
                <a:cs typeface="Poppins SemiBold" panose="00000500000000000000"/>
                <a:sym typeface="Poppins SemiBold" panose="00000500000000000000"/>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pic>
        <p:nvPicPr>
          <p:cNvPr id="29" name="Google Shape;29;g2f68141a545_0_445"/>
          <p:cNvPicPr preferRelativeResize="0"/>
          <p:nvPr/>
        </p:nvPicPr>
        <p:blipFill rotWithShape="1">
          <a:blip r:embed="rId2"/>
          <a:srcRect/>
          <a:stretch>
            <a:fill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srcRect/>
          <a:stretch>
            <a:fill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panose="020B0604020202020204"/>
              <a:buChar char="●"/>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L="914400" marR="0" lvl="1"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2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0"/>
              </a:spcBef>
              <a:spcAft>
                <a:spcPts val="0"/>
              </a:spcAft>
              <a:buClr>
                <a:schemeClr val="dk1"/>
              </a:buClr>
              <a:buSzPts val="1400"/>
              <a:buFont typeface="Arial" panose="020B0604020202020204"/>
              <a:buChar char="■"/>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1pPr>
            <a:lvl2pPr marL="0" marR="0" lvl="1"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2pPr>
            <a:lvl3pPr marL="0" marR="0" lvl="2"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3pPr>
            <a:lvl4pPr marL="0" marR="0" lvl="3"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4pPr>
            <a:lvl5pPr marL="0" marR="0" lvl="4"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5pPr>
            <a:lvl6pPr marL="0" marR="0" lvl="5"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6pPr>
            <a:lvl7pPr marL="0" marR="0" lvl="6"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7pPr>
            <a:lvl8pPr marL="0" marR="0" lvl="7"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8pPr>
            <a:lvl9pPr marL="0" marR="0" lvl="8" indent="0" algn="r" rtl="0">
              <a:lnSpc>
                <a:spcPct val="100000"/>
              </a:lnSpc>
              <a:spcBef>
                <a:spcPts val="0"/>
              </a:spcBef>
              <a:spcAft>
                <a:spcPts val="0"/>
              </a:spcAft>
              <a:buClr>
                <a:schemeClr val="dk1"/>
              </a:buClr>
              <a:buSzPts val="900"/>
              <a:buFont typeface="Arial" panose="020B0604020202020204"/>
              <a:buNone/>
              <a:defRPr sz="900" b="0" i="0" u="none" strike="noStrike" cap="none">
                <a:solidFill>
                  <a:schemeClr val="dk1"/>
                </a:solidFill>
                <a:latin typeface="Aharoni" panose="02010803020104030203"/>
                <a:ea typeface="Aharoni" panose="02010803020104030203"/>
                <a:cs typeface="Aharoni" panose="02010803020104030203"/>
                <a:sym typeface="Aharoni" panose="020108030201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panose="020F0502020204030204"/>
              <a:buChar char="●"/>
              <a:defRPr sz="60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panose="020B0604020202020204"/>
              <a:buNone/>
              <a:defRPr sz="2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ctr" rtl="0">
              <a:lnSpc>
                <a:spcPct val="90000"/>
              </a:lnSpc>
              <a:spcBef>
                <a:spcPts val="500"/>
              </a:spcBef>
              <a:spcAft>
                <a:spcPts val="0"/>
              </a:spcAft>
              <a:buClr>
                <a:schemeClr val="dk1"/>
              </a:buClr>
              <a:buSzPts val="2000"/>
              <a:buFont typeface="Arial" panose="020B0604020202020204"/>
              <a:buNone/>
              <a:defRPr sz="20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90000"/>
              </a:lnSpc>
              <a:spcBef>
                <a:spcPts val="500"/>
              </a:spcBef>
              <a:spcAft>
                <a:spcPts val="0"/>
              </a:spcAft>
              <a:buClr>
                <a:schemeClr val="dk1"/>
              </a:buClr>
              <a:buSzPts val="18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90000"/>
              </a:lnSpc>
              <a:spcBef>
                <a:spcPts val="500"/>
              </a:spcBef>
              <a:spcAft>
                <a:spcPts val="0"/>
              </a:spcAft>
              <a:buClr>
                <a:schemeClr val="dk1"/>
              </a:buClr>
              <a:buSzPts val="1600"/>
              <a:buFont typeface="Arial" panose="020B0604020202020204"/>
              <a:buNone/>
              <a:defRPr sz="16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R="0" lvl="1"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1pPr>
            <a:lvl2pPr marL="0" marR="0" lvl="1"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2pPr>
            <a:lvl3pPr marL="0" marR="0" lvl="2"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3pPr>
            <a:lvl4pPr marL="0" marR="0" lvl="3"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4pPr>
            <a:lvl5pPr marL="0" marR="0" lvl="4"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5pPr>
            <a:lvl6pPr marL="0" marR="0" lvl="5"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6pPr>
            <a:lvl7pPr marL="0" marR="0" lvl="6"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7pPr>
            <a:lvl8pPr marL="0" marR="0" lvl="7"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8pPr>
            <a:lvl9pPr marL="0" marR="0" lvl="8"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3.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panose="020B0606030504020204"/>
              <a:buNone/>
            </a:pPr>
            <a:r>
              <a:rPr lang="en-US" sz="1800" b="0" i="0" u="none" strike="noStrike" cap="none">
                <a:solidFill>
                  <a:srgbClr val="7F7F7F"/>
                </a:solidFill>
                <a:latin typeface="Open Sans" panose="020B0606030504020204"/>
                <a:ea typeface="Open Sans" panose="020B0606030504020204"/>
                <a:cs typeface="Open Sans" panose="020B0606030504020204"/>
                <a:sym typeface="Open Sans" panose="020B0606030504020204"/>
              </a:rPr>
              <a:t>Dept EECE, GST Bengaluru</a:t>
            </a:r>
            <a:endParaRPr sz="1800" b="0" i="0" u="none" strike="noStrike" cap="none">
              <a:solidFill>
                <a:srgbClr val="7F7F7F"/>
              </a:solidFill>
              <a:latin typeface="Open Sans" panose="020B0606030504020204"/>
              <a:ea typeface="Open Sans" panose="020B0606030504020204"/>
              <a:cs typeface="Open Sans" panose="020B0606030504020204"/>
              <a:sym typeface="Open Sans" panose="020B0606030504020204"/>
            </a:endParaRPr>
          </a:p>
        </p:txBody>
      </p:sp>
      <p:pic>
        <p:nvPicPr>
          <p:cNvPr id="11" name="Google Shape;11;p64"/>
          <p:cNvPicPr preferRelativeResize="0"/>
          <p:nvPr userDrawn="1"/>
        </p:nvPicPr>
        <p:blipFill rotWithShape="1">
          <a:blip r:embed="rId10"/>
          <a:srcRect/>
          <a:stretch>
            <a:fill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jpe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5" name="Google Shape;87;p1"/>
          <p:cNvPicPr preferRelativeResize="0"/>
          <p:nvPr/>
        </p:nvPicPr>
        <p:blipFill rotWithShape="1">
          <a:blip r:embed="rId1">
            <a:alphaModFix amt="20000"/>
          </a:blip>
          <a:srcRect l="1514" r="2310" b="19493"/>
          <a:stretch>
            <a:fillRect/>
          </a:stretch>
        </p:blipFill>
        <p:spPr>
          <a:xfrm>
            <a:off x="-1235" y="16934"/>
            <a:ext cx="12193235" cy="6734914"/>
          </a:xfrm>
          <a:prstGeom prst="rect">
            <a:avLst/>
          </a:prstGeom>
          <a:noFill/>
          <a:ln>
            <a:noFill/>
          </a:ln>
        </p:spPr>
      </p:pic>
      <p:sp>
        <p:nvSpPr>
          <p:cNvPr id="6" name="Google Shape;88;p1"/>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panose="020B0606030504020204"/>
                <a:ea typeface="Open Sans" panose="020B0606030504020204"/>
                <a:cs typeface="Open Sans" panose="020B0606030504020204"/>
                <a:sym typeface="Open Sans" panose="020B0606030504020204"/>
              </a:rPr>
              <a:t>GITAM (Deemed-to-be) University</a:t>
            </a:r>
            <a:endParaRPr lang="en-US" sz="2800" dirty="0"/>
          </a:p>
        </p:txBody>
      </p:sp>
      <p:sp>
        <p:nvSpPr>
          <p:cNvPr id="11" name="Google Shape;93;p1"/>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dirty="0">
                <a:solidFill>
                  <a:srgbClr val="7F7F7F"/>
                </a:solidFill>
                <a:latin typeface="Montserrat Medium" panose="00000600000000000000"/>
                <a:ea typeface="Montserrat Medium" panose="00000600000000000000"/>
                <a:cs typeface="Montserrat Medium" panose="00000600000000000000"/>
                <a:sym typeface="Montserrat Medium" panose="00000600000000000000"/>
              </a:rPr>
              <a:t>www.gitam.edu</a:t>
            </a:r>
            <a:endParaRPr sz="1200" b="0" i="0" u="none" strike="noStrike" cap="none" dirty="0">
              <a:solidFill>
                <a:srgbClr val="7F7F7F"/>
              </a:solidFill>
              <a:latin typeface="Montserrat Medium" panose="00000600000000000000"/>
              <a:ea typeface="Montserrat Medium" panose="00000600000000000000"/>
              <a:cs typeface="Montserrat Medium" panose="00000600000000000000"/>
              <a:sym typeface="Montserrat Medium" panose="00000600000000000000"/>
            </a:endParaRPr>
          </a:p>
        </p:txBody>
      </p:sp>
      <p:grpSp>
        <p:nvGrpSpPr>
          <p:cNvPr id="12" name="Google Shape;94;p1"/>
          <p:cNvGrpSpPr/>
          <p:nvPr/>
        </p:nvGrpSpPr>
        <p:grpSpPr>
          <a:xfrm rot="2700000">
            <a:off x="5984712" y="5183993"/>
            <a:ext cx="231043" cy="225933"/>
            <a:chOff x="11087593" y="13905"/>
            <a:chExt cx="1085533" cy="1061509"/>
          </a:xfrm>
        </p:grpSpPr>
        <p:sp>
          <p:nvSpPr>
            <p:cNvPr id="13" name="Google Shape;95;p1"/>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panose="020B0604020202020204"/>
                <a:buNone/>
              </a:pPr>
              <a:endParaRPr sz="135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4" name="Google Shape;96;p1"/>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panose="020B0604020202020204"/>
                <a:buNone/>
              </a:pPr>
              <a:endParaRPr sz="135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16" name="Google Shape;104;p1"/>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Department of Electrical Electronics and Communication Engineering</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17" name="Google Shape;105;p1"/>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9" name="Google Shape;111;p1"/>
          <p:cNvSpPr/>
          <p:nvPr/>
        </p:nvSpPr>
        <p:spPr>
          <a:xfrm>
            <a:off x="133754" y="4504626"/>
            <a:ext cx="2926946" cy="951865"/>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Team: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rPr>
              <a:t>Akhila</a:t>
            </a:r>
            <a:endPar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endParaRPr>
          </a:p>
          <a:p>
            <a:pPr marL="285750" indent="-285750" algn="ctr">
              <a:buSzPts val="1400"/>
              <a:buFont typeface="Arial" panose="020B0604020202020204" pitchFamily="34" charset="0"/>
              <a:buChar char="•"/>
            </a:pPr>
            <a:r>
              <a:rPr lang="en-US" alt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Aishwarya KV</a:t>
            </a:r>
            <a:endParaRPr lang="en-US" alt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indent="-285750" algn="ctr">
              <a:buSzPts val="1400"/>
              <a:buFont typeface="Arial" panose="020B0604020202020204" pitchFamily="34" charset="0"/>
              <a:buChar char="•"/>
            </a:pPr>
            <a:r>
              <a:rPr lang="en-US" alt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Gadiputi Vinay Vardhan</a:t>
            </a:r>
            <a:endParaRPr lang="en-US" alt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0" name="Google Shape;111;p1"/>
          <p:cNvSpPr/>
          <p:nvPr/>
        </p:nvSpPr>
        <p:spPr>
          <a:xfrm>
            <a:off x="9303006" y="4932455"/>
            <a:ext cx="2926946" cy="1167130"/>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Mentor: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Shatadal Chatterjee  </a:t>
            </a:r>
            <a:endParaRPr dirty="0"/>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rPr>
              <a:t> </a:t>
            </a:r>
            <a:endPar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endParaRPr>
          </a:p>
          <a:p>
            <a:pPr marL="0" marR="0" lvl="0" indent="0" rtl="0">
              <a:lnSpc>
                <a:spcPct val="100000"/>
              </a:lnSpc>
              <a:spcBef>
                <a:spcPts val="0"/>
              </a:spcBef>
              <a:spcAft>
                <a:spcPts val="0"/>
              </a:spcAft>
              <a:buClr>
                <a:srgbClr val="000000"/>
              </a:buClr>
              <a:buSzPts val="1400"/>
              <a:buFont typeface="Arial" panose="020B0604020202020204"/>
              <a:buNone/>
            </a:pPr>
            <a:r>
              <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Project In-charge: </a:t>
            </a:r>
            <a:endParaRPr lang="en-US" sz="1400" b="1" i="0" u="none" strike="noStrike" cap="none"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panose="00000600000000000000"/>
                <a:ea typeface="Montserrat Medium" panose="00000600000000000000"/>
                <a:cs typeface="Montserrat Medium" panose="00000600000000000000"/>
                <a:sym typeface="Montserrat Medium" panose="00000600000000000000"/>
              </a:rPr>
              <a:t>Shatadal Chatterjee </a:t>
            </a:r>
            <a:r>
              <a:rPr lang="en-US" sz="1400" b="1" i="0" u="none" strike="noStrike" cap="none" dirty="0">
                <a:solidFill>
                  <a:schemeClr val="dk1"/>
                </a:solidFill>
                <a:latin typeface="Montserrat Medium" panose="00000600000000000000"/>
                <a:ea typeface="Arial" panose="020B0604020202020204"/>
                <a:cs typeface="Arial" panose="020B0604020202020204"/>
                <a:sym typeface="Montserrat Medium" panose="00000600000000000000"/>
              </a:rPr>
              <a:t> </a:t>
            </a:r>
            <a:endParaRPr lang="en-US" sz="14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1" name="Google Shape;67;p1"/>
          <p:cNvPicPr preferRelativeResize="0"/>
          <p:nvPr/>
        </p:nvPicPr>
        <p:blipFill rotWithShape="1">
          <a:blip r:embed="rId2"/>
          <a:srcRect/>
          <a:stretch>
            <a:fillRect/>
          </a:stretch>
        </p:blipFill>
        <p:spPr>
          <a:xfrm>
            <a:off x="4601352" y="1778687"/>
            <a:ext cx="2674631" cy="1245671"/>
          </a:xfrm>
          <a:prstGeom prst="rect">
            <a:avLst/>
          </a:prstGeom>
          <a:noFill/>
          <a:ln>
            <a:noFill/>
          </a:ln>
        </p:spPr>
      </p:pic>
      <p:sp>
        <p:nvSpPr>
          <p:cNvPr id="22" name="Google Shape;88;p1"/>
          <p:cNvSpPr txBox="1"/>
          <p:nvPr/>
        </p:nvSpPr>
        <p:spPr>
          <a:xfrm>
            <a:off x="3522980" y="264160"/>
            <a:ext cx="5567045" cy="9518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t>Approximate Computing For Image Processing</a:t>
            </a:r>
            <a:endParaRPr lang="en-US" sz="2800" dirty="0"/>
          </a:p>
        </p:txBody>
      </p:sp>
      <p:sp>
        <p:nvSpPr>
          <p:cNvPr id="23" name="Google Shape;88;p1"/>
          <p:cNvSpPr txBox="1"/>
          <p:nvPr/>
        </p:nvSpPr>
        <p:spPr>
          <a:xfrm>
            <a:off x="9812887" y="141274"/>
            <a:ext cx="2245360" cy="3975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panose="020B0606030504020204"/>
                <a:ea typeface="Open Sans" panose="020B0606030504020204"/>
                <a:cs typeface="Open Sans" panose="020B0606030504020204"/>
                <a:sym typeface="Open Sans" panose="020B0606030504020204"/>
              </a:rPr>
              <a:t>Review-2</a:t>
            </a:r>
            <a:endParaRPr lang="en-US" sz="2000" i="1" dirty="0"/>
          </a:p>
        </p:txBody>
      </p:sp>
      <p:sp>
        <p:nvSpPr>
          <p:cNvPr id="25" name="Google Shape;120;p76"/>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AY 2025-26 </a:t>
            </a:r>
            <a:endParaRPr sz="9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Google Shape;120;p76"/>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Capstone Project – </a:t>
            </a:r>
            <a:r>
              <a:rPr lang="en-US" sz="1800" b="1" dirty="0">
                <a:solidFill>
                  <a:schemeClr val="lt1"/>
                </a:solidFill>
                <a:latin typeface="Verdana" panose="020B0604030504040204"/>
                <a:ea typeface="Verdana" panose="020B0604030504040204"/>
                <a:cs typeface="Verdana" panose="020B0604030504040204"/>
                <a:sym typeface="Verdana" panose="020B0604030504040204"/>
              </a:rPr>
              <a:t>Introduction (PROJ2999)</a:t>
            </a:r>
            <a:endParaRPr lang="en-US" sz="1800" b="1" i="0" u="none" strike="noStrike" cap="none" dirty="0">
              <a:solidFill>
                <a:schemeClr val="lt1"/>
              </a:solidFill>
              <a:latin typeface="Verdana" panose="020B0604030504040204"/>
              <a:ea typeface="Verdana" panose="020B0604030504040204"/>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8"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Objective and Goals</a:t>
            </a:r>
            <a:endParaRPr dirty="0"/>
          </a:p>
        </p:txBody>
      </p:sp>
      <p:sp>
        <p:nvSpPr>
          <p:cNvPr id="3" name="Google Shape;120;p76"/>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20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Objective </a:t>
            </a:r>
            <a:endParaRPr sz="10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0;p76"/>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US" sz="2000" b="1" i="0" u="none" strike="noStrike" cap="none" dirty="0">
                <a:solidFill>
                  <a:schemeClr val="lt1"/>
                </a:solidFill>
                <a:latin typeface="Verdana" panose="020B0604030504040204"/>
                <a:ea typeface="Verdana" panose="020B0604030504040204"/>
                <a:cs typeface="Verdana" panose="020B0604030504040204"/>
                <a:sym typeface="Verdana" panose="020B0604030504040204"/>
              </a:rPr>
              <a:t>Goals</a:t>
            </a:r>
            <a:endParaRPr sz="10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TextBox 33"/>
          <p:cNvSpPr txBox="1"/>
          <p:nvPr/>
        </p:nvSpPr>
        <p:spPr>
          <a:xfrm>
            <a:off x="1014730" y="3860800"/>
            <a:ext cx="8148955" cy="2631440"/>
          </a:xfrm>
          <a:prstGeom prst="rect">
            <a:avLst/>
          </a:prstGeom>
          <a:noFill/>
        </p:spPr>
        <p:txBody>
          <a:bodyPr wrap="square" rtlCol="0">
            <a:noAutofit/>
          </a:bodyPr>
          <a:lstStyle/>
          <a:p>
            <a:r>
              <a:rPr lang="en-US" altLang="en-US" dirty="0">
                <a:latin typeface="Verdana" panose="020B0604030504040204" pitchFamily="34" charset="0"/>
                <a:ea typeface="Verdana" panose="020B0604030504040204" pitchFamily="34" charset="0"/>
              </a:rPr>
              <a:t>• Implement a working 3×3 convolution module using approximate arithmetic.</a:t>
            </a:r>
            <a:endParaRPr lang="en-US" altLang="en-US" dirty="0">
              <a:latin typeface="Verdana" panose="020B0604030504040204" pitchFamily="34" charset="0"/>
              <a:ea typeface="Verdana" panose="020B0604030504040204" pitchFamily="34" charset="0"/>
            </a:endParaRPr>
          </a:p>
          <a:p>
            <a:endParaRPr lang="en-US" altLang="en-US" dirty="0">
              <a:latin typeface="Verdana" panose="020B0604030504040204" pitchFamily="34" charset="0"/>
              <a:ea typeface="Verdana" panose="020B0604030504040204" pitchFamily="34" charset="0"/>
            </a:endParaRPr>
          </a:p>
          <a:p>
            <a:r>
              <a:rPr lang="en-US" altLang="en-US" dirty="0">
                <a:latin typeface="Verdana" panose="020B0604030504040204" pitchFamily="34" charset="0"/>
                <a:ea typeface="Verdana" panose="020B0604030504040204" pitchFamily="34" charset="0"/>
              </a:rPr>
              <a:t>• Reduce power usage by 40–60% compared to exact convolution.</a:t>
            </a:r>
            <a:endParaRPr lang="en-US" altLang="en-US" dirty="0">
              <a:latin typeface="Verdana" panose="020B0604030504040204" pitchFamily="34" charset="0"/>
              <a:ea typeface="Verdana" panose="020B0604030504040204" pitchFamily="34" charset="0"/>
            </a:endParaRPr>
          </a:p>
          <a:p>
            <a:endParaRPr lang="en-US" altLang="en-US" dirty="0">
              <a:latin typeface="Verdana" panose="020B0604030504040204" pitchFamily="34" charset="0"/>
              <a:ea typeface="Verdana" panose="020B0604030504040204" pitchFamily="34" charset="0"/>
            </a:endParaRPr>
          </a:p>
          <a:p>
            <a:r>
              <a:rPr lang="en-US" altLang="en-US" dirty="0">
                <a:latin typeface="Verdana" panose="020B0604030504040204" pitchFamily="34" charset="0"/>
                <a:ea typeface="Verdana" panose="020B0604030504040204" pitchFamily="34" charset="0"/>
              </a:rPr>
              <a:t>• Maintain acceptable image quality for human perception.</a:t>
            </a:r>
            <a:endParaRPr lang="en-US" altLang="en-US" dirty="0">
              <a:latin typeface="Verdana" panose="020B0604030504040204" pitchFamily="34" charset="0"/>
              <a:ea typeface="Verdana" panose="020B0604030504040204" pitchFamily="34" charset="0"/>
            </a:endParaRPr>
          </a:p>
          <a:p>
            <a:endParaRPr lang="en-US" altLang="en-US" dirty="0">
              <a:latin typeface="Verdana" panose="020B0604030504040204" pitchFamily="34" charset="0"/>
              <a:ea typeface="Verdana" panose="020B0604030504040204" pitchFamily="34" charset="0"/>
            </a:endParaRPr>
          </a:p>
          <a:p>
            <a:r>
              <a:rPr lang="en-US" altLang="en-US" dirty="0">
                <a:latin typeface="Verdana" panose="020B0604030504040204" pitchFamily="34" charset="0"/>
                <a:ea typeface="Verdana" panose="020B0604030504040204" pitchFamily="34" charset="0"/>
              </a:rPr>
              <a:t>• Optimize the design for FPGA/ASIC deployment.</a:t>
            </a:r>
            <a:endParaRPr lang="en-US" altLang="en-US" dirty="0">
              <a:latin typeface="Verdana" panose="020B0604030504040204" pitchFamily="34" charset="0"/>
              <a:ea typeface="Verdana" panose="020B0604030504040204" pitchFamily="34" charset="0"/>
            </a:endParaRPr>
          </a:p>
        </p:txBody>
      </p:sp>
      <p:sp>
        <p:nvSpPr>
          <p:cNvPr id="35" name="Slide Number Placeholder 3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2" name="Text Box 1"/>
          <p:cNvSpPr txBox="1"/>
          <p:nvPr/>
        </p:nvSpPr>
        <p:spPr>
          <a:xfrm>
            <a:off x="782955" y="1195705"/>
            <a:ext cx="9529445" cy="2030095"/>
          </a:xfrm>
          <a:prstGeom prst="rect">
            <a:avLst/>
          </a:prstGeom>
          <a:noFill/>
        </p:spPr>
        <p:txBody>
          <a:bodyPr wrap="square" rtlCol="0">
            <a:spAutoFit/>
          </a:bodyPr>
          <a:p>
            <a:pPr marL="285750" indent="-285750">
              <a:buFont typeface="Arial" panose="020B0604020202020204" pitchFamily="34" charset="0"/>
              <a:buChar char="•"/>
            </a:pPr>
            <a:r>
              <a:rPr lang="en-US" altLang="en-US"/>
              <a:t>To design a 3×3 convolution architecture for image processing using approximate computing techniques.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To reduce power consumption and hardware complexity by using approximate adders and multipliers.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To achieve real-time image processing performance suitable for embedded and low-power devices.</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To evaluate image quality (PSNR, MSE) when using approximate arithmetic.</a:t>
            </a:r>
            <a:endParaRPr lang="en-US" altLang="en-US"/>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To compare exact vs approximate convolution in terms of speed, area, delay, and power.</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8" name="Google Shape;125;p3"/>
          <p:cNvSpPr txBox="1"/>
          <p:nvPr/>
        </p:nvSpPr>
        <p:spPr>
          <a:xfrm>
            <a:off x="452918" y="1238562"/>
            <a:ext cx="11326761" cy="573576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First, we start by understanding what exact 3×3 image convolution is and how approximate convolution is different. We also study why approximate computing saves power and where it is used.</a:t>
            </a: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Next, we design and implement the exact 3×3 convolution using normal adders and multipliers. This gives us a clear “baseline” to compare against later.</a:t>
            </a: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Then, we choose the right approximate adders and multipliers such as LOA, ETA, or truncated multipliers that can reduce power and hardware usage. This step helps us prepare the approximate design.</a:t>
            </a: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After that, we implement the approximate 3×3 convolution, replacing the exact arithmetic units with approximate ones. We then test our design to see how much power is saved and how much image quality changes.</a:t>
            </a: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In the next step, we compare the outputs of exact and approximate convolution. We check differences in image quality (PSNR, MSE) and also compare delay, area, and power between both designs.</a:t>
            </a: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algn="l"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Finally, we combine all our results, prepare charts and tables, and complete the final project report and presentation by explaining which design is better and why.</a:t>
            </a:r>
            <a:endParaRPr lang="en-US" altLang="en-US" dirty="0">
              <a:latin typeface="Verdana" panose="020B0604030504040204" pitchFamily="34" charset="0"/>
              <a:ea typeface="Verdana" panose="020B0604030504040204" pitchFamily="34"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5" name="Google Shape;125;p3"/>
          <p:cNvSpPr txBox="1"/>
          <p:nvPr/>
        </p:nvSpPr>
        <p:spPr>
          <a:xfrm>
            <a:off x="777874" y="155440"/>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Project Plan (Clearly mention milestone for objectives under each reviews)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panose="00000500000000000000"/>
                <a:sym typeface="Montserrat" panose="00000500000000000000"/>
              </a:rPr>
              <a:t>Literature Survey</a:t>
            </a:r>
            <a:endParaRPr dirty="0"/>
          </a:p>
        </p:txBody>
      </p:sp>
      <p:sp>
        <p:nvSpPr>
          <p:cNvPr id="5" name="Google Shape;125;p3"/>
          <p:cNvSpPr txBox="1"/>
          <p:nvPr/>
        </p:nvSpPr>
        <p:spPr>
          <a:xfrm>
            <a:off x="452918" y="628327"/>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Publications</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Paper 1:</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Title: Low Power and Single Multiplier Design for 2D Convolutions</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Publisher: IEEE</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Published: 2021 (ICCCIS)</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Main Idea: Single-multiplier 2D convolution for low-power hardware.</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 Proposes a hardware-efficient 2D convolution design using only one multiplier, reducing power and silicon area.</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 Uses shift-add and reuse techniques to compute convolution kernels with minimal hardware.</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 Shows significant reduction in power consumption, making it suitable for embedded image systems.</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 Relevant because your project also targets low-power 3×3 convolution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dirty="0">
                <a:latin typeface="Verdana" panose="020B0604030504040204" pitchFamily="34" charset="0"/>
                <a:ea typeface="Verdana" panose="020B0604030504040204" pitchFamily="34" charset="0"/>
              </a:rPr>
              <a:t> </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b="1" dirty="0">
                <a:latin typeface="Verdana" panose="020B0604030504040204" pitchFamily="34" charset="0"/>
                <a:ea typeface="Verdana" panose="020B0604030504040204" pitchFamily="34" charset="0"/>
              </a:rPr>
              <a:t>Paper 2:</a:t>
            </a: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b="1" dirty="0">
                <a:latin typeface="Verdana" panose="020B0604030504040204" pitchFamily="34" charset="0"/>
                <a:ea typeface="Verdana" panose="020B0604030504040204" pitchFamily="34" charset="0"/>
              </a:rPr>
              <a:t>Title: Construction of Sampling System for Electric Power Materials Using CNN</a:t>
            </a: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b="1" dirty="0">
                <a:latin typeface="Verdana" panose="020B0604030504040204" pitchFamily="34" charset="0"/>
                <a:ea typeface="Verdana" panose="020B0604030504040204" pitchFamily="34" charset="0"/>
              </a:rPr>
              <a:t>Publisher: IEEE</a:t>
            </a: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b="1" dirty="0">
                <a:latin typeface="Verdana" panose="020B0604030504040204" pitchFamily="34" charset="0"/>
                <a:ea typeface="Verdana" panose="020B0604030504040204" pitchFamily="34" charset="0"/>
              </a:rPr>
              <a:t>Published: 2023 (Smart Energy Systems Conf.)</a:t>
            </a: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dirty="0">
                <a:latin typeface="Verdana" panose="020B0604030504040204" pitchFamily="34" charset="0"/>
                <a:ea typeface="Verdana" panose="020B0604030504040204" pitchFamily="34" charset="0"/>
              </a:rPr>
              <a:t>Main Idea: CNN-based image enhancement and recognition for accurate sampling.</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dirty="0">
                <a:latin typeface="Verdana" panose="020B0604030504040204" pitchFamily="34" charset="0"/>
                <a:ea typeface="Verdana" panose="020B0604030504040204" pitchFamily="34" charset="0"/>
              </a:rPr>
              <a:t>✔ Uses Convolutional Neural Networks to improve clarity, contrast, and feature visibility of images.</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dirty="0">
                <a:latin typeface="Verdana" panose="020B0604030504040204" pitchFamily="34" charset="0"/>
                <a:ea typeface="Verdana" panose="020B0604030504040204" pitchFamily="34" charset="0"/>
              </a:rPr>
              <a:t>✔ Introduces a custom image enhancement process to handle low-light or over-exposed images.</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dirty="0">
                <a:latin typeface="Verdana" panose="020B0604030504040204" pitchFamily="34" charset="0"/>
                <a:ea typeface="Verdana" panose="020B0604030504040204" pitchFamily="34" charset="0"/>
              </a:rPr>
              <a:t>✔ Achieves high accuracy (94.85% recall) in identifying objects in complex scenes.</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US" altLang="en-US" dirty="0">
                <a:latin typeface="Verdana" panose="020B0604030504040204" pitchFamily="34" charset="0"/>
                <a:ea typeface="Verdana" panose="020B0604030504040204" pitchFamily="34" charset="0"/>
              </a:rPr>
              <a:t>✔ Relevant because it demonstrates how convolution operations improve image quality in real systems.</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 </a:t>
            </a:r>
            <a:endParaRPr lang="en-IN" dirty="0">
              <a:latin typeface="Verdana" panose="020B0604030504040204" pitchFamily="34" charset="0"/>
              <a:ea typeface="Verdan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panose="00000500000000000000"/>
                <a:sym typeface="Montserrat" panose="00000500000000000000"/>
              </a:rPr>
              <a:t>Architecture  </a:t>
            </a:r>
            <a:endParaRPr dirty="0"/>
          </a:p>
        </p:txBody>
      </p:sp>
      <p:sp>
        <p:nvSpPr>
          <p:cNvPr id="5" name="Google Shape;125;p3"/>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Structural Diagram</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sz="1200"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endParaRPr lang="en-IN" sz="1200"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2" name="Google Shape;125;p3"/>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Behaviour Diagram</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endParaRPr lang="en-IN" sz="1200"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 </a:t>
            </a:r>
            <a:endParaRPr lang="en-IN" sz="1200"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6" name="Picture 5" descr="ChatGPT Image Nov 20, 2025, 04_00_30 PM"/>
          <p:cNvPicPr>
            <a:picLocks noChangeAspect="1"/>
          </p:cNvPicPr>
          <p:nvPr/>
        </p:nvPicPr>
        <p:blipFill>
          <a:blip r:embed="rId1"/>
          <a:stretch>
            <a:fillRect/>
          </a:stretch>
        </p:blipFill>
        <p:spPr>
          <a:xfrm>
            <a:off x="100965" y="1657350"/>
            <a:ext cx="5811520" cy="4359910"/>
          </a:xfrm>
          <a:prstGeom prst="rect">
            <a:avLst/>
          </a:prstGeom>
        </p:spPr>
      </p:pic>
      <p:pic>
        <p:nvPicPr>
          <p:cNvPr id="7" name="Picture 6" descr="WhatsApp Image 2025-11-20 at 18.07.05_2efc21bb"/>
          <p:cNvPicPr>
            <a:picLocks noChangeAspect="1"/>
          </p:cNvPicPr>
          <p:nvPr/>
        </p:nvPicPr>
        <p:blipFill>
          <a:blip r:embed="rId2"/>
          <a:stretch>
            <a:fillRect/>
          </a:stretch>
        </p:blipFill>
        <p:spPr>
          <a:xfrm>
            <a:off x="6315075" y="2048510"/>
            <a:ext cx="5774690" cy="3215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Use Cases &amp; Testing</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452120" y="726440"/>
            <a:ext cx="5761990" cy="520636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endParaRPr lang="en-IN"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1. Edge Detection</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Approximate 3×3 convolution can be used for Sobel, Prewitt, and Laplacian filters.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Useful in surveillance cameras, robotics vision, and obstacle detection.</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2. Image Smoothing &amp; Noise Removal</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Gaussian and average filtering using approximate arithmetic reduces power.</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Suitable for mobile devices and IoT cameras.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3. Real-Time Video Processing</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Low-power convolution enables real-time filtering in drones, robots, and embedded processors.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4. CNN Preprocessing</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Convolution layer approximation can speed up computations in lightweight CNN models.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p:cNvSpPr txBox="1"/>
          <p:nvPr/>
        </p:nvSpPr>
        <p:spPr>
          <a:xfrm>
            <a:off x="6214110" y="936625"/>
            <a:ext cx="5761990" cy="700087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 </a:t>
            </a:r>
            <a:endParaRPr lang="en-IN"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RTL Simulation Test: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Verify convolution output for sample pixel inputs in waveform.</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3×3 Window Generation Test: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Check correct shifting of pixels through line buffers and window registers.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Kernel Operation Test: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Validate multiply-accumulate (MAC) operations for 3×3 kernel values.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Approx vs Exact Output Test: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Compare approximate results with exact convolution in Vivado simulation.</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Clipping &amp; Output Range Test: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Ensure final output pixel remains within 0–255 after accumulation.</a:t>
            </a:r>
            <a:endParaRPr lang="en-US" altLang="en-US" dirty="0">
              <a:latin typeface="Verdana" panose="020B0604030504040204" pitchFamily="34" charset="0"/>
              <a:ea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Implementation and Results – Iteration 1 </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433233" y="561017"/>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1 : Results</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1. Implementation</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1. Implementation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Implemented exact 3×3 convolution using full-precision multipliers and adders.</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Line buffers and 3×3 window generator verified through RTL simulation in Vivado.</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Tested with grayscale image pixels and common kernels (blur, edge, sharpen).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2. Power Analysis Result (Iteration 1)</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(Exact Convolution – Baseline Design)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Key Observations from Power Report</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Total On-Chip Power: 13.098 W</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Dynamic Power: 12.834 W (≈ 98%)</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Static Power: 0.264 W</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Power Breakdown: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Signals: 5.973 W (47%)</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Logic: 5.272 W (43%)</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I/O: 1.289 W (10%)</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3. Result Summary</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Exact convolution works correctly and provides baseline accuracy.</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High dynamic power consumption shows the need for approximate arithmetic in next iteration.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These results form the comparison point for Iteration 2 (Approximate Design).</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2" name="Picture 1" descr="Screenshot 2025-11-20 161948"/>
          <p:cNvPicPr>
            <a:picLocks noChangeAspect="1"/>
          </p:cNvPicPr>
          <p:nvPr/>
        </p:nvPicPr>
        <p:blipFill>
          <a:blip r:embed="rId1"/>
          <a:stretch>
            <a:fillRect/>
          </a:stretch>
        </p:blipFill>
        <p:spPr>
          <a:xfrm>
            <a:off x="6770370" y="2658110"/>
            <a:ext cx="4989830" cy="228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Implementation and Results – Iteration 2 </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452120" y="436880"/>
            <a:ext cx="8414385" cy="573595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b="1" dirty="0">
                <a:latin typeface="Verdana" panose="020B0604030504040204" pitchFamily="34" charset="0"/>
                <a:ea typeface="Verdana" panose="020B0604030504040204" pitchFamily="34" charset="0"/>
              </a:rPr>
              <a:t>1. Implementation: Approximate Convolution (Optimized Design)</a:t>
            </a:r>
            <a:endParaRPr lang="en-US" altLang="en-US"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Design Goal: Reduce the high power consumption observed in Iteration 1 (Exact Design) by implementing approximate arithmetic.</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Methodology: Replaced the full-precision multipliers and adders with approximate arithmetic units (e.g., truncated or inexact multipliers) to reduce switching activity and complexity.</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Functionality: Maintained the core functionality of the 3x3 window generator and preserved the image processing features (blur, sharpen, edge detection).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Validation: Results validated against the use cases and test cases defined in Slide 6 to measure the accuracy trade-off against power savings.</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2. Power Analysis Result (Iteration 2)</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The implemented Approximate Convolution netlist achieved significant power and thermal improvements:</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Total On-Chip Power: 5.662 W</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Junction Temperature: 50.8 </a:t>
            </a:r>
            <a:r>
              <a:rPr lang="en-US" altLang="en-US" dirty="0">
                <a:latin typeface="Verdana" panose="020B0604030504040204" pitchFamily="34" charset="0"/>
                <a:ea typeface="Verdana" panose="020B0604030504040204" pitchFamily="34" charset="0"/>
                <a:sym typeface="+mn-ea"/>
              </a:rPr>
              <a:t>∘C</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Dynamic Power Breakdown	Iteration 1 (Exact)	Iteration 2 (Approximate)	Reduction</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Total On-Chip Power	13.098 W	5.662 W	57%</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Logic Power	5.272 W (43%)	2.017 W (36%)	3.255 W</a:t>
            </a:r>
            <a:endParaRPr lang="en-US" altLang="en-US"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US" altLang="en-US" dirty="0">
                <a:latin typeface="Verdana" panose="020B0604030504040204" pitchFamily="34" charset="0"/>
                <a:ea typeface="Verdana" panose="020B0604030504040204" pitchFamily="34" charset="0"/>
              </a:rPr>
              <a:t>Signals Power	5.973 W (47%)	2.926 W (53%)	3.047 W</a:t>
            </a:r>
            <a:r>
              <a:rPr lang="en-IN" dirty="0">
                <a:latin typeface="Verdana" panose="020B0604030504040204" pitchFamily="34" charset="0"/>
                <a:ea typeface="Verdana" panose="020B0604030504040204" pitchFamily="34" charset="0"/>
              </a:rPr>
              <a:t> </a:t>
            </a: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2" name="Picture 1" descr="WhatsApp Image 2025-11-13 at 20.12.11_22dcccdd"/>
          <p:cNvPicPr>
            <a:picLocks noChangeAspect="1"/>
          </p:cNvPicPr>
          <p:nvPr/>
        </p:nvPicPr>
        <p:blipFill>
          <a:blip r:embed="rId1"/>
          <a:stretch>
            <a:fillRect/>
          </a:stretch>
        </p:blipFill>
        <p:spPr>
          <a:xfrm>
            <a:off x="7623175" y="4313555"/>
            <a:ext cx="4569460" cy="2544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dirty="0"/>
          </a:p>
        </p:txBody>
      </p:sp>
      <p:sp>
        <p:nvSpPr>
          <p:cNvPr id="4" name="Google Shape;125;p3"/>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dirty="0">
                <a:solidFill>
                  <a:srgbClr val="000000"/>
                </a:solidFill>
                <a:latin typeface="Montserrat" panose="00000500000000000000"/>
                <a:ea typeface="Montserrat" panose="00000500000000000000"/>
                <a:cs typeface="Montserrat" panose="00000500000000000000"/>
                <a:sym typeface="Montserrat" panose="00000500000000000000"/>
              </a:rPr>
              <a:t>Conclusion &amp; Future Work</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Google Shape;125;p3"/>
          <p:cNvSpPr txBox="1"/>
          <p:nvPr/>
        </p:nvSpPr>
        <p:spPr>
          <a:xfrm>
            <a:off x="77633" y="561017"/>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In this project, a 3×3 image convolution module was designed, implemented, and tested using Verilog on the Vivado tool. The main objective was to perform edge detection and feature extraction by applying a 3×3 kernel to input pixel data. The system architecture included input buffering, line memory implementation, sliding-window generation, and a convolution MAC (Multiply–Accumulate) unit.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Simulation results verified that the design correctly processes pixel values and produces the expected convolved output. Hardware synthesis reports confirmed that the design meets timing requirements and operates efficiently on the selected FPGA device. Overall, the project successfully demonstrates a working hardware model for real-time image filtering applications.</a:t>
            </a:r>
            <a:endParaRPr lang="en-US" altLang="en-US"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IN" b="1" dirty="0">
                <a:latin typeface="Verdana" panose="020B0604030504040204" pitchFamily="34" charset="0"/>
                <a:ea typeface="Verdana" panose="020B0604030504040204" pitchFamily="34" charset="0"/>
              </a:rPr>
              <a:t>Future Work</a:t>
            </a:r>
            <a:endParaRPr lang="en-IN"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Implement Additional Filters: Extend the design to support multiple kernels such as sharpening, Gaussian blur, and Sobel filters.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Add Dynamic Kernel Loading: Allow users to modify or load convolution kernels at runtime instead of using fixed coefficients.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Pipeline Optimization: Improve speed by introducing parallel MAC units and deeper pipelining for higher throughput.</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AXI Interface Integration: Add AXI-stream or AXI4 memory-mapped interface to connect with real-time camera modules or processors.</a:t>
            </a: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US" altLang="en-US"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US" altLang="en-US" dirty="0">
                <a:latin typeface="Verdana" panose="020B0604030504040204" pitchFamily="34" charset="0"/>
                <a:ea typeface="Verdana" panose="020B0604030504040204" pitchFamily="34" charset="0"/>
              </a:rPr>
              <a:t>Hardware Deployment: Test the design on an actual FPGA development board to evaluate real-time performance with live image data</a:t>
            </a:r>
            <a:r>
              <a:rPr lang="en-US" altLang="en-US" b="1" dirty="0">
                <a:latin typeface="Verdana" panose="020B0604030504040204" pitchFamily="34" charset="0"/>
                <a:ea typeface="Verdana" panose="020B0604030504040204" pitchFamily="34" charset="0"/>
              </a:rPr>
              <a:t>.</a:t>
            </a:r>
            <a:endParaRPr lang="en-US" altLang="en-US"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panose="020B0604020202020204"/>
              <a:buNone/>
            </a:pPr>
            <a:r>
              <a:rPr lang="en-US" sz="11500" b="1" i="0" u="none" strike="noStrike" cap="none">
                <a:solidFill>
                  <a:srgbClr val="007069"/>
                </a:solidFill>
                <a:latin typeface="Open Sans" panose="020B0606030504020204"/>
                <a:ea typeface="Open Sans" panose="020B0606030504020204"/>
                <a:cs typeface="Open Sans" panose="020B0606030504020204"/>
                <a:sym typeface="Open Sans" panose="020B0606030504020204"/>
              </a:rPr>
              <a:t>THANK </a:t>
            </a:r>
            <a:r>
              <a:rPr lang="en-US" sz="11500" b="1" i="0" u="none" strike="noStrike" cap="none">
                <a:solidFill>
                  <a:srgbClr val="A5A5A5"/>
                </a:solidFill>
                <a:latin typeface="Open Sans" panose="020B0606030504020204"/>
                <a:ea typeface="Open Sans" panose="020B0606030504020204"/>
                <a:cs typeface="Open Sans" panose="020B0606030504020204"/>
                <a:sym typeface="Open Sans" panose="020B0606030504020204"/>
              </a:rPr>
              <a:t>YOU</a:t>
            </a:r>
            <a:endParaRPr sz="1400" b="0" i="0" u="none" strike="noStrike" cap="none">
              <a:solidFill>
                <a:srgbClr val="000000"/>
              </a:solidFill>
              <a:latin typeface="Aharoni" panose="02010803020104030203"/>
              <a:ea typeface="Aharoni" panose="02010803020104030203"/>
              <a:cs typeface="Aharoni" panose="02010803020104030203"/>
              <a:sym typeface="Aharoni" panose="02010803020104030203"/>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dirty="0">
                <a:solidFill>
                  <a:srgbClr val="7F7F7F"/>
                </a:solidFill>
                <a:latin typeface="Open Sans" panose="020B0606030504020204"/>
                <a:ea typeface="Open Sans" panose="020B0606030504020204"/>
                <a:cs typeface="Open Sans" panose="020B0606030504020204"/>
                <a:sym typeface="Open Sans" panose="020B0606030504020204"/>
              </a:rPr>
              <a:t>Have a Great Day ! </a:t>
            </a:r>
            <a:endParaRPr sz="1400" b="0" i="0" u="none" strike="noStrike" cap="none" dirty="0">
              <a:solidFill>
                <a:srgbClr val="000000"/>
              </a:solidFill>
              <a:latin typeface="Aharoni" panose="02010803020104030203"/>
              <a:ea typeface="Aharoni" panose="02010803020104030203"/>
              <a:cs typeface="Aharoni" panose="02010803020104030203"/>
              <a:sym typeface="Aharoni" panose="02010803020104030203"/>
            </a:endParaRPr>
          </a:p>
        </p:txBody>
      </p:sp>
    </p:spTree>
  </p:cSld>
  <p:clrMapOvr>
    <a:masterClrMapping/>
  </p:clrMapOvr>
</p:sld>
</file>

<file path=ppt/tags/tag1.xml><?xml version="1.0" encoding="utf-8"?>
<p:tagLst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7974</Words>
  <Application>WPS Presentation</Application>
  <PresentationFormat>Widescreen</PresentationFormat>
  <Paragraphs>250</Paragraphs>
  <Slides>10</Slides>
  <Notes>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Arial</vt:lpstr>
      <vt:lpstr>Open Sans</vt:lpstr>
      <vt:lpstr>Calibri</vt:lpstr>
      <vt:lpstr>Poppins SemiBold</vt:lpstr>
      <vt:lpstr>Aharoni</vt:lpstr>
      <vt:lpstr>Plus Jakarta Sans</vt:lpstr>
      <vt:lpstr>Montserrat Medium</vt:lpstr>
      <vt:lpstr>Verdana</vt:lpstr>
      <vt:lpstr>Montserrat</vt:lpstr>
      <vt:lpstr>Verdana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GITAM</dc:creator>
  <cp:lastModifiedBy>Akhila Reddy</cp:lastModifiedBy>
  <cp:revision>35</cp:revision>
  <dcterms:created xsi:type="dcterms:W3CDTF">2022-05-23T07:15:00Z</dcterms:created>
  <dcterms:modified xsi:type="dcterms:W3CDTF">2025-11-20T12:41:23Z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47DF700DBBB94FCB809C990B8DE09A7A_13</vt:lpwstr>
  </property>
  <property fmtid="{D5CDD505-2E9C-101B-9397-08002B2CF9AE}" pid="3" name="KSOProductBuildVer">
    <vt:lpwstr>1033-12.2.0.23155</vt:lpwstr>
  </property>
</Properties>
</file>